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280" r:id="rId2"/>
    <p:sldId id="366" r:id="rId3"/>
    <p:sldId id="380" r:id="rId4"/>
    <p:sldId id="383" r:id="rId5"/>
    <p:sldId id="384" r:id="rId6"/>
    <p:sldId id="385" r:id="rId7"/>
    <p:sldId id="386" r:id="rId8"/>
    <p:sldId id="387" r:id="rId9"/>
    <p:sldId id="388" r:id="rId10"/>
    <p:sldId id="389" r:id="rId11"/>
    <p:sldId id="390" r:id="rId12"/>
    <p:sldId id="391" r:id="rId13"/>
    <p:sldId id="392" r:id="rId14"/>
    <p:sldId id="393" r:id="rId15"/>
    <p:sldId id="394" r:id="rId16"/>
    <p:sldId id="398" r:id="rId17"/>
    <p:sldId id="395" r:id="rId18"/>
    <p:sldId id="397" r:id="rId19"/>
    <p:sldId id="399" r:id="rId20"/>
    <p:sldId id="28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89020" autoAdjust="0"/>
  </p:normalViewPr>
  <p:slideViewPr>
    <p:cSldViewPr>
      <p:cViewPr varScale="1">
        <p:scale>
          <a:sx n="73" d="100"/>
          <a:sy n="73" d="100"/>
        </p:scale>
        <p:origin x="185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hyperlink" Target="https://ieeexplore.ieee.org/document/9402048" TargetMode="External"/><Relationship Id="rId5" Type="http://schemas.openxmlformats.org/officeDocument/2006/relationships/hyperlink" Target="https://ieeexplore.ieee.org/document/9396024" TargetMode="External"/><Relationship Id="rId4" Type="http://schemas.openxmlformats.org/officeDocument/2006/relationships/hyperlink" Target="https://ieeexplore.ieee.org/document/9001110"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148980"/>
            <a:chOff x="-14748" y="986564"/>
            <a:chExt cx="9158748" cy="5148980"/>
          </a:xfrm>
        </p:grpSpPr>
        <p:sp>
          <p:nvSpPr>
            <p:cNvPr id="22" name="TextBox 21"/>
            <p:cNvSpPr txBox="1"/>
            <p:nvPr/>
          </p:nvSpPr>
          <p:spPr>
            <a:xfrm>
              <a:off x="177781" y="4812105"/>
              <a:ext cx="4322209" cy="1323439"/>
            </a:xfrm>
            <a:prstGeom prst="rect">
              <a:avLst/>
            </a:prstGeom>
            <a:noFill/>
          </p:spPr>
          <p:txBody>
            <a:bodyPr wrap="square" rtlCol="0">
              <a:spAutoFit/>
            </a:bodyPr>
            <a:lstStyle/>
            <a:p>
              <a:r>
                <a:rPr lang="en-US" sz="2000" b="1" dirty="0"/>
                <a:t> 220701518</a:t>
              </a:r>
            </a:p>
            <a:p>
              <a:r>
                <a:rPr lang="en-US" sz="2000" b="1" dirty="0"/>
                <a:t>ASHWIN V</a:t>
              </a:r>
            </a:p>
            <a:p>
              <a:r>
                <a:rPr lang="en-IN" b="1" dirty="0">
                  <a:ea typeface="Calibri" panose="020F0502020204030204" pitchFamily="34" charset="0"/>
                </a:rPr>
                <a:t>Mrs</a:t>
              </a:r>
              <a:r>
                <a:rPr lang="en-IN" sz="1800" b="1" dirty="0">
                  <a:effectLst/>
                  <a:ea typeface="Calibri" panose="020F0502020204030204" pitchFamily="34" charset="0"/>
                </a:rPr>
                <a:t>. J. Jinu Sophia, M.E.,</a:t>
              </a:r>
              <a:r>
                <a:rPr lang="en-IN" sz="1800" dirty="0">
                  <a:effectLst/>
                  <a:ea typeface="Calibri" panose="020F0502020204030204" pitchFamily="34" charset="0"/>
                </a:rPr>
                <a:t> </a:t>
              </a:r>
              <a:endParaRPr lang="en-US" sz="2000" b="1" dirty="0"/>
            </a:p>
            <a:p>
              <a:r>
                <a:rPr lang="en-US" sz="2000" b="1" dirty="0"/>
                <a:t>BE - CSE</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1077218"/>
              </a:xfrm>
              <a:prstGeom prst="rect">
                <a:avLst/>
              </a:prstGeom>
              <a:noFill/>
            </p:spPr>
            <p:txBody>
              <a:bodyPr wrap="square" rtlCol="0">
                <a:spAutoFit/>
              </a:bodyPr>
              <a:lstStyle/>
              <a:p>
                <a:r>
                  <a:rPr lang="en-US" sz="3200" b="1" dirty="0">
                    <a:solidFill>
                      <a:schemeClr val="bg1"/>
                    </a:solidFill>
                    <a:ea typeface="Open Sans Bold" panose="020B0806030504020204" pitchFamily="34" charset="0"/>
                    <a:cs typeface="Open Sans Bold" panose="020B0806030504020204" pitchFamily="34" charset="0"/>
                  </a:rPr>
                  <a:t>COLLEGE ADMISSION FORM </a:t>
                </a:r>
                <a:r>
                  <a:rPr lang="en-US" sz="2800" b="1" dirty="0">
                    <a:solidFill>
                      <a:schemeClr val="bg1"/>
                    </a:solidFill>
                    <a:ea typeface="Open Sans Bold" panose="020B0806030504020204" pitchFamily="34" charset="0"/>
                    <a:cs typeface="Open Sans Bold" panose="020B0806030504020204" pitchFamily="34" charset="0"/>
                  </a:rPr>
                  <a:t>AUTOMATION</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a:xfrm>
            <a:off x="0" y="1196752"/>
            <a:ext cx="9036496" cy="5040560"/>
          </a:xfrm>
        </p:spPr>
        <p:txBody>
          <a:bodyPr>
            <a:normAutofit fontScale="92500"/>
          </a:bodyPr>
          <a:lstStyle/>
          <a:p>
            <a:pPr algn="just">
              <a:lnSpc>
                <a:spcPct val="150000"/>
              </a:lnSpc>
            </a:pPr>
            <a:r>
              <a:rPr lang="en-US" sz="2000" dirty="0">
                <a:latin typeface="Times New Roman" panose="02020603050405020304" pitchFamily="18" charset="0"/>
              </a:rPr>
              <a:t>College Admission Form Automation leverages Robotic Process Automation (RPA) tools, such as UiPath Studio, to streamline the traditionally manual and resource-intensive process of managing student applications. By automating tasks like data extraction, validation, and database integration, this solution ensures faster processing, reduced errors, and an improved applicant experience. Additionally, features like real-time acknowledgments and error-checking mechanisms enhance operational efficiency and transparency while minimizing costs. This automation not only handles large volumes of applications during peak admission periods with ease but also allows administrative staff to focus on strategic initiatives. College Admission Form Automation is a significant step toward modernizing educational institutions and embracing digital transformation for efficient and scalable admission workflows.</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a:xfrm>
            <a:off x="71500" y="980728"/>
            <a:ext cx="9001000" cy="5652628"/>
          </a:xfrm>
        </p:spPr>
        <p:txBody>
          <a:bodyPr>
            <a:normAutofit/>
          </a:bodyPr>
          <a:lstStyle/>
          <a:p>
            <a:pPr marL="0" indent="0" algn="just">
              <a:buNone/>
            </a:pPr>
            <a:r>
              <a:rPr lang="en-US" sz="1600" b="1" dirty="0">
                <a:latin typeface="Times New Roman" panose="02020603050405020304" pitchFamily="18" charset="0"/>
              </a:rPr>
              <a:t>1. Increasing Volume of Applications</a:t>
            </a:r>
            <a:endParaRPr lang="en-US" sz="1600" dirty="0">
              <a:latin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rPr>
              <a:t>Colleges receive hundreds to thousands of applications every year.</a:t>
            </a:r>
          </a:p>
          <a:p>
            <a:pPr algn="just">
              <a:buFont typeface="Arial" panose="020B0604020202020204" pitchFamily="34" charset="0"/>
              <a:buChar char="•"/>
            </a:pPr>
            <a:r>
              <a:rPr lang="en-US" sz="1600" dirty="0">
                <a:latin typeface="Times New Roman" panose="02020603050405020304" pitchFamily="18" charset="0"/>
              </a:rPr>
              <a:t>Manual processing is time-consuming and prone to errors.</a:t>
            </a:r>
          </a:p>
          <a:p>
            <a:pPr marL="0" indent="0" algn="just">
              <a:buNone/>
            </a:pPr>
            <a:r>
              <a:rPr lang="en-US" sz="1600" b="1" dirty="0">
                <a:latin typeface="Times New Roman" panose="02020603050405020304" pitchFamily="18" charset="0"/>
              </a:rPr>
              <a:t>2. Minimizing Human Errors</a:t>
            </a:r>
            <a:endParaRPr lang="en-US" sz="1600" dirty="0">
              <a:latin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rPr>
              <a:t>Manual data entry often leads to mistakes such as incorrect names, dates, and contact details.</a:t>
            </a:r>
          </a:p>
          <a:p>
            <a:pPr algn="just">
              <a:buFont typeface="Arial" panose="020B0604020202020204" pitchFamily="34" charset="0"/>
              <a:buChar char="•"/>
            </a:pPr>
            <a:r>
              <a:rPr lang="en-US" sz="1600" dirty="0">
                <a:latin typeface="Times New Roman" panose="02020603050405020304" pitchFamily="18" charset="0"/>
              </a:rPr>
              <a:t>Automating the process ensures data accuracy and eliminates such errors.</a:t>
            </a:r>
          </a:p>
          <a:p>
            <a:pPr marL="0" indent="0" algn="just">
              <a:buNone/>
            </a:pPr>
            <a:r>
              <a:rPr lang="en-US" sz="1600" b="1" dirty="0">
                <a:latin typeface="Times New Roman" panose="02020603050405020304" pitchFamily="18" charset="0"/>
              </a:rPr>
              <a:t>3. Time Efficiency</a:t>
            </a:r>
            <a:endParaRPr lang="en-US" sz="1600" dirty="0">
              <a:latin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rPr>
              <a:t>Handling large volumes of applications manually delays the admission process.</a:t>
            </a:r>
          </a:p>
          <a:p>
            <a:pPr algn="just">
              <a:buFont typeface="Arial" panose="020B0604020202020204" pitchFamily="34" charset="0"/>
              <a:buChar char="•"/>
            </a:pPr>
            <a:r>
              <a:rPr lang="en-US" sz="1600" dirty="0">
                <a:latin typeface="Times New Roman" panose="02020603050405020304" pitchFamily="18" charset="0"/>
              </a:rPr>
              <a:t>Automation speeds up the process, ensuring timely admission decisions.</a:t>
            </a:r>
          </a:p>
          <a:p>
            <a:pPr marL="0" indent="0" algn="just">
              <a:buNone/>
            </a:pPr>
            <a:r>
              <a:rPr lang="en-US" sz="1600" b="1" dirty="0">
                <a:latin typeface="Times New Roman" panose="02020603050405020304" pitchFamily="18" charset="0"/>
              </a:rPr>
              <a:t>4. Resource Optimization</a:t>
            </a:r>
            <a:endParaRPr lang="en-US" sz="1600" dirty="0">
              <a:latin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rPr>
              <a:t>Automating the form filling process reduces the need for extensive human involvement.</a:t>
            </a:r>
          </a:p>
          <a:p>
            <a:pPr algn="just">
              <a:buFont typeface="Arial" panose="020B0604020202020204" pitchFamily="34" charset="0"/>
              <a:buChar char="•"/>
            </a:pPr>
            <a:r>
              <a:rPr lang="en-US" sz="1600" dirty="0">
                <a:latin typeface="Times New Roman" panose="02020603050405020304" pitchFamily="18" charset="0"/>
              </a:rPr>
              <a:t>Administrative staff can focus on more critical tasks like evaluating candidates.</a:t>
            </a:r>
          </a:p>
          <a:p>
            <a:pPr marL="0" indent="0" algn="just">
              <a:buNone/>
            </a:pPr>
            <a:r>
              <a:rPr lang="en-US" sz="1600" b="1" dirty="0">
                <a:latin typeface="Times New Roman" panose="02020603050405020304" pitchFamily="18" charset="0"/>
              </a:rPr>
              <a:t>5.   Streamlined Data Management</a:t>
            </a:r>
            <a:endParaRPr lang="en-US" sz="1600" dirty="0">
              <a:latin typeface="Times New Roman" panose="02020603050405020304" pitchFamily="18" charset="0"/>
            </a:endParaRPr>
          </a:p>
          <a:p>
            <a:pPr algn="just">
              <a:buFont typeface="Arial" panose="020B0604020202020204" pitchFamily="34" charset="0"/>
              <a:buChar char="•"/>
            </a:pPr>
            <a:r>
              <a:rPr lang="en-US" sz="1600" dirty="0">
                <a:latin typeface="Times New Roman" panose="02020603050405020304" pitchFamily="18" charset="0"/>
              </a:rPr>
              <a:t>Automation helps in better organization and management of applicant data.</a:t>
            </a:r>
          </a:p>
          <a:p>
            <a:pPr algn="just">
              <a:buFont typeface="Arial" panose="020B0604020202020204" pitchFamily="34" charset="0"/>
              <a:buChar char="•"/>
            </a:pPr>
            <a:r>
              <a:rPr lang="en-US" sz="1600" dirty="0">
                <a:latin typeface="Times New Roman" panose="02020603050405020304" pitchFamily="18" charset="0"/>
              </a:rPr>
              <a:t>Data is automatically stored in a digital format, making it easily accessible for future use.</a:t>
            </a:r>
          </a:p>
          <a:p>
            <a:pPr>
              <a:buFont typeface="Arial" panose="020B0604020202020204" pitchFamily="34" charset="0"/>
              <a:buChar char="•"/>
            </a:pPr>
            <a:endParaRPr lang="en-US" sz="1600" dirty="0"/>
          </a:p>
          <a:p>
            <a:pPr>
              <a:buFont typeface="Arial" panose="020B0604020202020204" pitchFamily="34" charset="0"/>
              <a:buChar char="•"/>
            </a:pPr>
            <a:endParaRPr lang="en-US" sz="1400" dirty="0"/>
          </a:p>
          <a:p>
            <a:pPr>
              <a:buFont typeface="Arial" panose="020B0604020202020204" pitchFamily="34" charset="0"/>
              <a:buChar char="•"/>
            </a:pPr>
            <a:endParaRPr lang="en-US" sz="1800" dirty="0">
              <a:latin typeface="Times New Roman" panose="02020603050405020304" pitchFamily="18" charset="0"/>
            </a:endParaRPr>
          </a:p>
          <a:p>
            <a:pPr>
              <a:buFont typeface="Arial" panose="020B0604020202020204" pitchFamily="34" charset="0"/>
              <a:buChar char="•"/>
            </a:pPr>
            <a:endParaRPr lang="en-US" dirty="0"/>
          </a:p>
          <a:p>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187" y="129381"/>
            <a:ext cx="8763000" cy="808037"/>
          </a:xfrm>
        </p:spPr>
        <p:txBody>
          <a:bodyPr>
            <a:normAutofit/>
          </a:bodyPr>
          <a:lstStyle/>
          <a:p>
            <a:r>
              <a:rPr lang="en-US" dirty="0"/>
              <a:t>Advantages of the Proposed System</a:t>
            </a:r>
            <a:endParaRPr lang="en-IN" dirty="0">
              <a:latin typeface="+mj-lt"/>
            </a:endParaRPr>
          </a:p>
        </p:txBody>
      </p:sp>
      <p:sp>
        <p:nvSpPr>
          <p:cNvPr id="4" name="Rectangle 2">
            <a:extLst>
              <a:ext uri="{FF2B5EF4-FFF2-40B4-BE49-F238E27FC236}">
                <a16:creationId xmlns:a16="http://schemas.microsoft.com/office/drawing/2014/main" id="{C83D9199-73F2-AFD4-FCB7-BC16DE8BFB35}"/>
              </a:ext>
            </a:extLst>
          </p:cNvPr>
          <p:cNvSpPr>
            <a:spLocks noGrp="1" noChangeArrowheads="1"/>
          </p:cNvSpPr>
          <p:nvPr>
            <p:ph idx="1"/>
          </p:nvPr>
        </p:nvSpPr>
        <p:spPr bwMode="auto">
          <a:xfrm>
            <a:off x="186813" y="-466722"/>
            <a:ext cx="8652171" cy="8018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200000"/>
              </a:lnSpc>
              <a:buNone/>
            </a:pPr>
            <a:r>
              <a:rPr lang="en-US" sz="800" b="1" dirty="0"/>
              <a:t> 	</a:t>
            </a:r>
          </a:p>
          <a:p>
            <a:pPr marL="0" indent="0" algn="just">
              <a:lnSpc>
                <a:spcPct val="200000"/>
              </a:lnSpc>
              <a:buNone/>
            </a:pPr>
            <a:endParaRPr lang="en-US" sz="1050" b="1" dirty="0"/>
          </a:p>
          <a:p>
            <a:pPr marL="0" indent="0" algn="just">
              <a:lnSpc>
                <a:spcPct val="200000"/>
              </a:lnSpc>
              <a:buNone/>
            </a:pPr>
            <a:endParaRPr lang="en-US" sz="1050" b="1" dirty="0"/>
          </a:p>
          <a:p>
            <a:pPr marL="228600" indent="-228600" algn="just">
              <a:lnSpc>
                <a:spcPct val="200000"/>
              </a:lnSpc>
              <a:buAutoNum type="arabicPeriod"/>
            </a:pPr>
            <a:endParaRPr lang="en-US" sz="1100" b="1" dirty="0">
              <a:latin typeface="Times New Roman" panose="02020603050405020304" pitchFamily="18" charset="0"/>
            </a:endParaRPr>
          </a:p>
          <a:p>
            <a:pPr marL="228600" indent="-228600" algn="just">
              <a:lnSpc>
                <a:spcPct val="200000"/>
              </a:lnSpc>
              <a:buAutoNum type="arabicPeriod"/>
            </a:pPr>
            <a:r>
              <a:rPr lang="en-US" sz="1100" b="1" dirty="0">
                <a:latin typeface="Times New Roman" panose="02020603050405020304" pitchFamily="18" charset="0"/>
              </a:rPr>
              <a:t>Time Efficiency</a:t>
            </a:r>
          </a:p>
          <a:p>
            <a:pPr algn="just">
              <a:lnSpc>
                <a:spcPct val="200000"/>
              </a:lnSpc>
              <a:buFont typeface="Arial" panose="020B0604020202020204" pitchFamily="34" charset="0"/>
              <a:buChar char="•"/>
            </a:pPr>
            <a:r>
              <a:rPr lang="en-US" sz="1100" dirty="0">
                <a:latin typeface="Times New Roman" panose="02020603050405020304" pitchFamily="18" charset="0"/>
              </a:rPr>
              <a:t>Reduces time taken to process multiple admission forms.</a:t>
            </a:r>
          </a:p>
          <a:p>
            <a:pPr algn="just">
              <a:lnSpc>
                <a:spcPct val="200000"/>
              </a:lnSpc>
              <a:buFont typeface="Arial" panose="020B0604020202020204" pitchFamily="34" charset="0"/>
              <a:buChar char="•"/>
            </a:pPr>
            <a:r>
              <a:rPr lang="en-US" sz="1100" dirty="0">
                <a:latin typeface="Times New Roman" panose="02020603050405020304" pitchFamily="18" charset="0"/>
              </a:rPr>
              <a:t>Speeds up form filling, submission, and approval processes.</a:t>
            </a:r>
          </a:p>
          <a:p>
            <a:pPr marL="0" indent="0" algn="just">
              <a:lnSpc>
                <a:spcPct val="200000"/>
              </a:lnSpc>
              <a:buNone/>
            </a:pPr>
            <a:r>
              <a:rPr lang="en-US" sz="1100" b="1" dirty="0">
                <a:latin typeface="Times New Roman" panose="02020603050405020304" pitchFamily="18" charset="0"/>
              </a:rPr>
              <a:t>2. Error Reduction</a:t>
            </a:r>
          </a:p>
          <a:p>
            <a:pPr marL="0" indent="0" algn="just">
              <a:lnSpc>
                <a:spcPct val="200000"/>
              </a:lnSpc>
              <a:buNone/>
            </a:pPr>
            <a:r>
              <a:rPr lang="en-US" sz="1100" b="1" dirty="0">
                <a:latin typeface="Times New Roman" panose="02020603050405020304" pitchFamily="18" charset="0"/>
              </a:rPr>
              <a:t> .      </a:t>
            </a:r>
            <a:r>
              <a:rPr lang="en-US" sz="1100" dirty="0">
                <a:latin typeface="Times New Roman" panose="02020603050405020304" pitchFamily="18" charset="0"/>
              </a:rPr>
              <a:t>Minimizes human errors in data entry.</a:t>
            </a:r>
          </a:p>
          <a:p>
            <a:pPr algn="just">
              <a:lnSpc>
                <a:spcPct val="200000"/>
              </a:lnSpc>
              <a:buFont typeface="Arial" panose="020B0604020202020204" pitchFamily="34" charset="0"/>
              <a:buChar char="•"/>
            </a:pPr>
            <a:r>
              <a:rPr lang="en-US" sz="1100" dirty="0">
                <a:latin typeface="Times New Roman" panose="02020603050405020304" pitchFamily="18" charset="0"/>
              </a:rPr>
              <a:t>Ensures accurate transfer of details (name, date of birth, course, etc.</a:t>
            </a:r>
          </a:p>
          <a:p>
            <a:pPr marL="0" indent="0" algn="just">
              <a:lnSpc>
                <a:spcPct val="200000"/>
              </a:lnSpc>
              <a:buNone/>
            </a:pPr>
            <a:r>
              <a:rPr lang="en-US" sz="1100" b="1" dirty="0">
                <a:latin typeface="Times New Roman" panose="02020603050405020304" pitchFamily="18" charset="0"/>
              </a:rPr>
              <a:t>3. Scalability</a:t>
            </a:r>
          </a:p>
          <a:p>
            <a:pPr algn="just">
              <a:lnSpc>
                <a:spcPct val="200000"/>
              </a:lnSpc>
              <a:buFont typeface="Arial" panose="020B0604020202020204" pitchFamily="34" charset="0"/>
              <a:buChar char="•"/>
            </a:pPr>
            <a:r>
              <a:rPr lang="en-US" sz="1100" dirty="0">
                <a:latin typeface="Times New Roman" panose="02020603050405020304" pitchFamily="18" charset="0"/>
              </a:rPr>
              <a:t>Handles large volumes of data effortlessly.</a:t>
            </a:r>
          </a:p>
          <a:p>
            <a:pPr algn="just">
              <a:lnSpc>
                <a:spcPct val="200000"/>
              </a:lnSpc>
              <a:buFont typeface="Arial" panose="020B0604020202020204" pitchFamily="34" charset="0"/>
              <a:buChar char="•"/>
            </a:pPr>
            <a:r>
              <a:rPr lang="en-US" sz="1100" dirty="0">
                <a:latin typeface="Times New Roman" panose="02020603050405020304" pitchFamily="18" charset="0"/>
              </a:rPr>
              <a:t>Suitable for growing institutions with an increasing number of applicants.</a:t>
            </a:r>
          </a:p>
          <a:p>
            <a:pPr marL="0" indent="0" algn="just">
              <a:lnSpc>
                <a:spcPct val="200000"/>
              </a:lnSpc>
              <a:buNone/>
            </a:pPr>
            <a:r>
              <a:rPr lang="en-US" sz="1100" b="1" dirty="0">
                <a:latin typeface="Times New Roman" panose="02020603050405020304" pitchFamily="18" charset="0"/>
              </a:rPr>
              <a:t>4. Improved Resource Utilization</a:t>
            </a:r>
            <a:endParaRPr lang="en-US" sz="1100" dirty="0">
              <a:latin typeface="Times New Roman" panose="02020603050405020304" pitchFamily="18" charset="0"/>
            </a:endParaRPr>
          </a:p>
          <a:p>
            <a:pPr algn="just">
              <a:lnSpc>
                <a:spcPct val="200000"/>
              </a:lnSpc>
              <a:buFont typeface="Arial" panose="020B0604020202020204" pitchFamily="34" charset="0"/>
              <a:buChar char="•"/>
            </a:pPr>
            <a:r>
              <a:rPr lang="en-US" sz="1100" dirty="0">
                <a:latin typeface="Times New Roman" panose="02020603050405020304" pitchFamily="18" charset="0"/>
              </a:rPr>
              <a:t>Frees up administrative staff to focus on critical tasks.</a:t>
            </a:r>
          </a:p>
          <a:p>
            <a:pPr algn="just">
              <a:lnSpc>
                <a:spcPct val="200000"/>
              </a:lnSpc>
              <a:buFont typeface="Arial" panose="020B0604020202020204" pitchFamily="34" charset="0"/>
              <a:buChar char="•"/>
            </a:pPr>
            <a:r>
              <a:rPr lang="en-US" sz="1100" dirty="0">
                <a:latin typeface="Times New Roman" panose="02020603050405020304" pitchFamily="18" charset="0"/>
              </a:rPr>
              <a:t>Reduces time spent on repetitive, manual work.</a:t>
            </a:r>
          </a:p>
          <a:p>
            <a:pPr marL="0" indent="0" algn="just">
              <a:lnSpc>
                <a:spcPct val="200000"/>
              </a:lnSpc>
              <a:buNone/>
            </a:pPr>
            <a:r>
              <a:rPr lang="en-US" sz="1100" b="1" dirty="0">
                <a:latin typeface="Times New Roman" panose="02020603050405020304" pitchFamily="18" charset="0"/>
              </a:rPr>
              <a:t>5. Enhanced Applicant Experience</a:t>
            </a:r>
            <a:endParaRPr lang="en-US" sz="1100" dirty="0">
              <a:latin typeface="Times New Roman" panose="02020603050405020304" pitchFamily="18" charset="0"/>
            </a:endParaRPr>
          </a:p>
          <a:p>
            <a:pPr algn="just">
              <a:lnSpc>
                <a:spcPct val="200000"/>
              </a:lnSpc>
              <a:buFont typeface="Arial" panose="020B0604020202020204" pitchFamily="34" charset="0"/>
              <a:buChar char="•"/>
            </a:pPr>
            <a:r>
              <a:rPr lang="en-US" sz="1100" dirty="0">
                <a:latin typeface="Times New Roman" panose="02020603050405020304" pitchFamily="18" charset="0"/>
              </a:rPr>
              <a:t>Faster processing leads to smoother and professional experience.</a:t>
            </a:r>
          </a:p>
          <a:p>
            <a:pPr algn="just">
              <a:lnSpc>
                <a:spcPct val="200000"/>
              </a:lnSpc>
              <a:buFont typeface="Arial" panose="020B0604020202020204" pitchFamily="34" charset="0"/>
              <a:buChar char="•"/>
            </a:pPr>
            <a:r>
              <a:rPr lang="en-US" sz="1100" dirty="0">
                <a:latin typeface="Times New Roman" panose="02020603050405020304" pitchFamily="18" charset="0"/>
              </a:rPr>
              <a:t>Applicants receive quicker confirmations.</a:t>
            </a:r>
          </a:p>
          <a:p>
            <a:pPr>
              <a:lnSpc>
                <a:spcPct val="200000"/>
              </a:lnSpc>
              <a:buFont typeface="Arial" panose="020B0604020202020204" pitchFamily="34" charset="0"/>
              <a:buChar char="•"/>
            </a:pPr>
            <a:endParaRPr lang="en-US" sz="800" dirty="0"/>
          </a:p>
          <a:p>
            <a:pPr>
              <a:lnSpc>
                <a:spcPct val="200000"/>
              </a:lnSpc>
              <a:buFont typeface="Arial" panose="020B0604020202020204" pitchFamily="34" charset="0"/>
              <a:buChar char="•"/>
            </a:pPr>
            <a:endParaRPr lang="en-US" sz="800" dirty="0"/>
          </a:p>
          <a:p>
            <a:pPr>
              <a:buFont typeface="Arial" panose="020B0604020202020204" pitchFamily="34" charset="0"/>
              <a:buChar char="•"/>
            </a:pPr>
            <a:endParaRPr lang="en-US" sz="800" dirty="0"/>
          </a:p>
          <a:p>
            <a:pPr>
              <a:buFont typeface="Arial" panose="020B0604020202020204" pitchFamily="34" charset="0"/>
              <a:buChar char="•"/>
            </a:pPr>
            <a:endParaRPr lang="en-US" sz="8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fontScale="92500" lnSpcReduction="10000"/>
          </a:bodyPr>
          <a:lstStyle/>
          <a:p>
            <a:r>
              <a:rPr lang="en-US" sz="1600" dirty="0"/>
              <a:t>Paper1</a:t>
            </a:r>
          </a:p>
          <a:p>
            <a:pPr algn="just"/>
            <a:r>
              <a:rPr lang="en-US" sz="1600" b="1" dirty="0">
                <a:latin typeface="Times New Roman" panose="02020603050405020304" pitchFamily="18" charset="0"/>
              </a:rPr>
              <a:t>Title</a:t>
            </a:r>
            <a:r>
              <a:rPr lang="en-US" sz="1600" dirty="0">
                <a:latin typeface="Times New Roman" panose="02020603050405020304" pitchFamily="18" charset="0"/>
              </a:rPr>
              <a:t>: </a:t>
            </a:r>
            <a:r>
              <a:rPr lang="en-US" sz="1600" i="1" dirty="0">
                <a:latin typeface="Times New Roman" panose="02020603050405020304" pitchFamily="18" charset="0"/>
              </a:rPr>
              <a:t>Automation of Admission Processes in Educational Institutions Using RPA Tools</a:t>
            </a:r>
            <a:br>
              <a:rPr lang="en-US" sz="1600" dirty="0">
                <a:latin typeface="Times New Roman" panose="02020603050405020304" pitchFamily="18" charset="0"/>
              </a:rPr>
            </a:br>
            <a:r>
              <a:rPr lang="en-US" sz="1600" b="1" dirty="0">
                <a:latin typeface="Times New Roman" panose="02020603050405020304" pitchFamily="18" charset="0"/>
              </a:rPr>
              <a:t>Advantages</a:t>
            </a:r>
            <a:r>
              <a:rPr lang="en-US" sz="1600" dirty="0">
                <a:latin typeface="Times New Roman" panose="02020603050405020304" pitchFamily="18" charset="0"/>
              </a:rPr>
              <a:t>:</a:t>
            </a:r>
          </a:p>
          <a:p>
            <a:pPr algn="just">
              <a:buFont typeface="Arial" panose="020B0604020202020204" pitchFamily="34" charset="0"/>
              <a:buChar char="•"/>
            </a:pPr>
            <a:r>
              <a:rPr lang="en-US" sz="1600" dirty="0">
                <a:latin typeface="Times New Roman" panose="02020603050405020304" pitchFamily="18" charset="0"/>
              </a:rPr>
              <a:t>Automates repetitive tasks, reducing processing time significantly.</a:t>
            </a:r>
          </a:p>
          <a:p>
            <a:pPr algn="just">
              <a:buFont typeface="Arial" panose="020B0604020202020204" pitchFamily="34" charset="0"/>
              <a:buChar char="•"/>
            </a:pPr>
            <a:r>
              <a:rPr lang="en-US" sz="1600" dirty="0">
                <a:latin typeface="Times New Roman" panose="02020603050405020304" pitchFamily="18" charset="0"/>
              </a:rPr>
              <a:t>Increases accuracy by minimizing human errors in data entry and validation.</a:t>
            </a:r>
          </a:p>
          <a:p>
            <a:pPr algn="just">
              <a:buFont typeface="Arial" panose="020B0604020202020204" pitchFamily="34" charset="0"/>
              <a:buChar char="•"/>
            </a:pPr>
            <a:r>
              <a:rPr lang="en-US" sz="1600" dirty="0">
                <a:latin typeface="Times New Roman" panose="02020603050405020304" pitchFamily="18" charset="0"/>
              </a:rPr>
              <a:t>Enhances scalability during peak admission periods.</a:t>
            </a:r>
          </a:p>
          <a:p>
            <a:pPr algn="just"/>
            <a:r>
              <a:rPr lang="en-US" sz="1600" b="1" dirty="0">
                <a:latin typeface="Times New Roman" panose="02020603050405020304" pitchFamily="18" charset="0"/>
              </a:rPr>
              <a:t>Disadvantages</a:t>
            </a:r>
            <a:r>
              <a:rPr lang="en-US" sz="1600" dirty="0">
                <a:latin typeface="Times New Roman" panose="02020603050405020304" pitchFamily="18" charset="0"/>
              </a:rPr>
              <a:t>:</a:t>
            </a:r>
          </a:p>
          <a:p>
            <a:pPr algn="just">
              <a:buFont typeface="Arial" panose="020B0604020202020204" pitchFamily="34" charset="0"/>
              <a:buChar char="•"/>
            </a:pPr>
            <a:r>
              <a:rPr lang="en-US" sz="1600" dirty="0">
                <a:latin typeface="Times New Roman" panose="02020603050405020304" pitchFamily="18" charset="0"/>
              </a:rPr>
              <a:t>Initial setup and development costs can be high.</a:t>
            </a:r>
          </a:p>
          <a:p>
            <a:pPr algn="just">
              <a:buFont typeface="Arial" panose="020B0604020202020204" pitchFamily="34" charset="0"/>
              <a:buChar char="•"/>
            </a:pPr>
            <a:r>
              <a:rPr lang="en-US" sz="1600" dirty="0">
                <a:latin typeface="Times New Roman" panose="02020603050405020304" pitchFamily="18" charset="0"/>
              </a:rPr>
              <a:t>Requires technical expertise for implementation and maintenance.</a:t>
            </a:r>
          </a:p>
          <a:p>
            <a:r>
              <a:rPr lang="en-US" sz="1600" dirty="0"/>
              <a:t>Paper 2</a:t>
            </a:r>
          </a:p>
          <a:p>
            <a:pPr algn="just"/>
            <a:r>
              <a:rPr lang="en-US" sz="1600" b="1" dirty="0">
                <a:latin typeface="Times New Roman" panose="02020603050405020304" pitchFamily="18" charset="0"/>
              </a:rPr>
              <a:t>Title</a:t>
            </a:r>
            <a:r>
              <a:rPr lang="en-US" sz="1600" dirty="0">
                <a:latin typeface="Times New Roman" panose="02020603050405020304" pitchFamily="18" charset="0"/>
              </a:rPr>
              <a:t>: </a:t>
            </a:r>
            <a:r>
              <a:rPr lang="en-US" sz="1600" i="1" dirty="0">
                <a:latin typeface="Times New Roman" panose="02020603050405020304" pitchFamily="18" charset="0"/>
              </a:rPr>
              <a:t>Implementing Digital Transformation in College Admissions Through RPA</a:t>
            </a:r>
            <a:br>
              <a:rPr lang="en-US" sz="1600" dirty="0">
                <a:latin typeface="Times New Roman" panose="02020603050405020304" pitchFamily="18" charset="0"/>
              </a:rPr>
            </a:br>
            <a:r>
              <a:rPr lang="en-US" sz="1600" b="1" dirty="0">
                <a:latin typeface="Times New Roman" panose="02020603050405020304" pitchFamily="18" charset="0"/>
              </a:rPr>
              <a:t>Advantages</a:t>
            </a:r>
            <a:r>
              <a:rPr lang="en-US" sz="1600" dirty="0">
                <a:latin typeface="Times New Roman" panose="02020603050405020304" pitchFamily="18" charset="0"/>
              </a:rPr>
              <a:t>:</a:t>
            </a:r>
          </a:p>
          <a:p>
            <a:pPr algn="just">
              <a:buFont typeface="Arial" panose="020B0604020202020204" pitchFamily="34" charset="0"/>
              <a:buChar char="•"/>
            </a:pPr>
            <a:r>
              <a:rPr lang="en-US" sz="1600" dirty="0">
                <a:latin typeface="Times New Roman" panose="02020603050405020304" pitchFamily="18" charset="0"/>
              </a:rPr>
              <a:t>Streamlines end-to-end admission workflows, improving efficiency.</a:t>
            </a:r>
          </a:p>
          <a:p>
            <a:pPr algn="just">
              <a:buFont typeface="Arial" panose="020B0604020202020204" pitchFamily="34" charset="0"/>
              <a:buChar char="•"/>
            </a:pPr>
            <a:r>
              <a:rPr lang="en-US" sz="1600" dirty="0">
                <a:latin typeface="Times New Roman" panose="02020603050405020304" pitchFamily="18" charset="0"/>
              </a:rPr>
              <a:t>Provides real-time status updates for enhanced transparency.</a:t>
            </a:r>
          </a:p>
          <a:p>
            <a:pPr algn="just">
              <a:buFont typeface="Arial" panose="020B0604020202020204" pitchFamily="34" charset="0"/>
              <a:buChar char="•"/>
            </a:pPr>
            <a:r>
              <a:rPr lang="en-US" sz="1600" dirty="0">
                <a:latin typeface="Times New Roman" panose="02020603050405020304" pitchFamily="18" charset="0"/>
              </a:rPr>
              <a:t>Frees up administrative resources for more strategic activities.</a:t>
            </a:r>
          </a:p>
          <a:p>
            <a:pPr algn="just"/>
            <a:r>
              <a:rPr lang="en-US" sz="1600" b="1" dirty="0">
                <a:latin typeface="Times New Roman" panose="02020603050405020304" pitchFamily="18" charset="0"/>
              </a:rPr>
              <a:t>Disadvantages</a:t>
            </a:r>
            <a:r>
              <a:rPr lang="en-US" sz="1600" dirty="0">
                <a:latin typeface="Times New Roman" panose="02020603050405020304" pitchFamily="18" charset="0"/>
              </a:rPr>
              <a:t>:</a:t>
            </a:r>
          </a:p>
          <a:p>
            <a:pPr algn="just">
              <a:buFont typeface="Arial" panose="020B0604020202020204" pitchFamily="34" charset="0"/>
              <a:buChar char="•"/>
            </a:pPr>
            <a:r>
              <a:rPr lang="en-US" sz="1600" dirty="0">
                <a:latin typeface="Times New Roman" panose="02020603050405020304" pitchFamily="18" charset="0"/>
              </a:rPr>
              <a:t>Limited handling of complex decision-making scenarios without manual intervention.</a:t>
            </a:r>
          </a:p>
          <a:p>
            <a:pPr algn="just">
              <a:buFont typeface="Arial" panose="020B0604020202020204" pitchFamily="34" charset="0"/>
              <a:buChar char="•"/>
            </a:pPr>
            <a:r>
              <a:rPr lang="en-US" sz="1600" dirty="0">
                <a:latin typeface="Times New Roman" panose="02020603050405020304" pitchFamily="18" charset="0"/>
              </a:rPr>
              <a:t>Integration with legacy systems can pose challenges.</a:t>
            </a:r>
          </a:p>
          <a:p>
            <a:pPr algn="just">
              <a:buFont typeface="Arial" panose="020B0604020202020204" pitchFamily="34" charset="0"/>
              <a:buChar char="•"/>
            </a:pPr>
            <a:endParaRPr lang="en-US" sz="1600" dirty="0">
              <a:latin typeface="Times New Roman" panose="02020603050405020304" pitchFamily="18" charset="0"/>
            </a:endParaRPr>
          </a:p>
          <a:p>
            <a:pPr algn="just"/>
            <a:endParaRPr lang="en-US" dirty="0">
              <a:latin typeface="Times New Roman" panose="02020603050405020304" pitchFamily="18" charset="0"/>
            </a:endParaRPr>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29381"/>
            <a:ext cx="8763000" cy="808037"/>
          </a:xfrm>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normAutofit/>
          </a:bodyPr>
          <a:lstStyle/>
          <a:p>
            <a:pPr algn="just"/>
            <a:r>
              <a:rPr lang="en-US" sz="2200" dirty="0">
                <a:latin typeface="Times New Roman" panose="02020603050405020304" pitchFamily="18" charset="0"/>
              </a:rPr>
              <a:t>The primary objective of the </a:t>
            </a:r>
            <a:r>
              <a:rPr lang="en-US" sz="2200" b="1" dirty="0">
                <a:latin typeface="Times New Roman" panose="02020603050405020304" pitchFamily="18" charset="0"/>
              </a:rPr>
              <a:t>College Admission Form Automation</a:t>
            </a:r>
            <a:r>
              <a:rPr lang="en-US" sz="2200" dirty="0">
                <a:latin typeface="Times New Roman" panose="02020603050405020304" pitchFamily="18" charset="0"/>
              </a:rPr>
              <a:t> system is to streamline and optimize the admission process by automating repetitive and time-consuming tasks. This ensures:</a:t>
            </a:r>
          </a:p>
          <a:p>
            <a:pPr algn="just">
              <a:buFont typeface="Arial" panose="020B0604020202020204" pitchFamily="34" charset="0"/>
              <a:buChar char="•"/>
            </a:pPr>
            <a:r>
              <a:rPr lang="en-US" sz="2200" b="1" dirty="0">
                <a:latin typeface="Times New Roman" panose="02020603050405020304" pitchFamily="18" charset="0"/>
              </a:rPr>
              <a:t>Faster Processing</a:t>
            </a:r>
            <a:r>
              <a:rPr lang="en-US" sz="2200" dirty="0">
                <a:latin typeface="Times New Roman" panose="02020603050405020304" pitchFamily="18" charset="0"/>
              </a:rPr>
              <a:t>: Efficiently handles large volumes of applications.</a:t>
            </a:r>
          </a:p>
          <a:p>
            <a:pPr algn="just">
              <a:buFont typeface="Arial" panose="020B0604020202020204" pitchFamily="34" charset="0"/>
              <a:buChar char="•"/>
            </a:pPr>
            <a:r>
              <a:rPr lang="en-US" sz="2200" b="1" dirty="0">
                <a:latin typeface="Times New Roman" panose="02020603050405020304" pitchFamily="18" charset="0"/>
              </a:rPr>
              <a:t>Error Reduction</a:t>
            </a:r>
            <a:r>
              <a:rPr lang="en-US" sz="2200" dirty="0">
                <a:latin typeface="Times New Roman" panose="02020603050405020304" pitchFamily="18" charset="0"/>
              </a:rPr>
              <a:t>: Minimizes manual errors during data entry and validation.</a:t>
            </a:r>
          </a:p>
          <a:p>
            <a:pPr algn="just">
              <a:buFont typeface="Arial" panose="020B0604020202020204" pitchFamily="34" charset="0"/>
              <a:buChar char="•"/>
            </a:pPr>
            <a:r>
              <a:rPr lang="en-US" sz="2200" b="1" dirty="0">
                <a:latin typeface="Times New Roman" panose="02020603050405020304" pitchFamily="18" charset="0"/>
              </a:rPr>
              <a:t>Enhanced Transparency</a:t>
            </a:r>
            <a:r>
              <a:rPr lang="en-US" sz="2200" dirty="0">
                <a:latin typeface="Times New Roman" panose="02020603050405020304" pitchFamily="18" charset="0"/>
              </a:rPr>
              <a:t>: Provides real-time tracking and updates for both administrators and applicants.</a:t>
            </a:r>
          </a:p>
          <a:p>
            <a:pPr algn="just">
              <a:buFont typeface="Arial" panose="020B0604020202020204" pitchFamily="34" charset="0"/>
              <a:buChar char="•"/>
            </a:pPr>
            <a:r>
              <a:rPr lang="en-US" sz="2200" b="1" dirty="0">
                <a:latin typeface="Times New Roman" panose="02020603050405020304" pitchFamily="18" charset="0"/>
              </a:rPr>
              <a:t>Resource Optimization</a:t>
            </a:r>
            <a:r>
              <a:rPr lang="en-US" sz="2200" dirty="0">
                <a:latin typeface="Times New Roman" panose="02020603050405020304" pitchFamily="18" charset="0"/>
              </a:rPr>
              <a:t>: Reduces the workload on administrative staff, enabling them to focus on strategic tasks.</a:t>
            </a:r>
          </a:p>
          <a:p>
            <a:pPr algn="just">
              <a:buFont typeface="Arial" panose="020B0604020202020204" pitchFamily="34" charset="0"/>
              <a:buChar char="•"/>
            </a:pPr>
            <a:r>
              <a:rPr lang="en-US" sz="2200" b="1" dirty="0">
                <a:latin typeface="Times New Roman" panose="02020603050405020304" pitchFamily="18" charset="0"/>
              </a:rPr>
              <a:t>Scalability</a:t>
            </a:r>
            <a:r>
              <a:rPr lang="en-US" sz="2200" dirty="0">
                <a:latin typeface="Times New Roman" panose="02020603050405020304" pitchFamily="18" charset="0"/>
              </a:rPr>
              <a:t>: Adapts seamlessly to fluctuating application volumes.</a:t>
            </a:r>
          </a:p>
          <a:p>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4" name="Content Placeholder 3">
            <a:extLst>
              <a:ext uri="{FF2B5EF4-FFF2-40B4-BE49-F238E27FC236}">
                <a16:creationId xmlns:a16="http://schemas.microsoft.com/office/drawing/2014/main" id="{C0D248B0-C1E0-532F-A88C-94F0A15E5031}"/>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190501" y="1052736"/>
            <a:ext cx="8762999" cy="4971203"/>
          </a:xfrm>
          <a:prstGeom prst="rect">
            <a:avLst/>
          </a:prstGeom>
          <a:noFill/>
          <a:ln>
            <a:noFill/>
          </a:ln>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pPr marL="0" indent="0">
              <a:buNone/>
            </a:pPr>
            <a:r>
              <a:rPr lang="en-IN" b="1" dirty="0"/>
              <a:t>Hardware Requirements:</a:t>
            </a:r>
          </a:p>
          <a:p>
            <a:pPr>
              <a:buFont typeface="Arial" panose="020B0604020202020204" pitchFamily="34" charset="0"/>
              <a:buChar char="•"/>
            </a:pPr>
            <a:r>
              <a:rPr lang="en-IN" b="1" dirty="0"/>
              <a:t>Processor</a:t>
            </a:r>
            <a:r>
              <a:rPr lang="en-IN" dirty="0"/>
              <a:t>: Intel Core i3 or higher.</a:t>
            </a:r>
          </a:p>
          <a:p>
            <a:pPr>
              <a:buFont typeface="Arial" panose="020B0604020202020204" pitchFamily="34" charset="0"/>
              <a:buChar char="•"/>
            </a:pPr>
            <a:r>
              <a:rPr lang="en-IN" b="1" dirty="0"/>
              <a:t>RAM</a:t>
            </a:r>
            <a:r>
              <a:rPr lang="en-IN" dirty="0"/>
              <a:t>: Minimum 4 GB (8 GB recommended).</a:t>
            </a:r>
          </a:p>
          <a:p>
            <a:pPr>
              <a:buFont typeface="Arial" panose="020B0604020202020204" pitchFamily="34" charset="0"/>
              <a:buChar char="•"/>
            </a:pPr>
            <a:r>
              <a:rPr lang="en-IN" b="1" dirty="0"/>
              <a:t>Storage</a:t>
            </a:r>
            <a:r>
              <a:rPr lang="en-IN" dirty="0"/>
              <a:t>: Minimum 10 GB free space.</a:t>
            </a:r>
          </a:p>
          <a:p>
            <a:pPr>
              <a:buFont typeface="Arial" panose="020B0604020202020204" pitchFamily="34" charset="0"/>
              <a:buChar char="•"/>
            </a:pPr>
            <a:r>
              <a:rPr lang="en-IN" b="1" dirty="0"/>
              <a:t>Display</a:t>
            </a:r>
            <a:r>
              <a:rPr lang="en-IN" dirty="0"/>
              <a:t>: 1366x768 resolution or higher.</a:t>
            </a:r>
          </a:p>
          <a:p>
            <a:pPr>
              <a:buFont typeface="Arial" panose="020B0604020202020204" pitchFamily="34" charset="0"/>
              <a:buChar char="•"/>
            </a:pPr>
            <a:r>
              <a:rPr lang="en-IN" b="1" dirty="0"/>
              <a:t>Internet</a:t>
            </a:r>
            <a:r>
              <a:rPr lang="en-IN" dirty="0"/>
              <a:t>: Required for downloading dependencies and email operations</a:t>
            </a:r>
          </a:p>
          <a:p>
            <a:pPr marL="0" indent="0">
              <a:buNone/>
            </a:pPr>
            <a:endParaRPr lang="en-IN" dirty="0"/>
          </a:p>
          <a:p>
            <a:pPr marL="0" indent="0">
              <a:buNone/>
            </a:pPr>
            <a:r>
              <a:rPr lang="en-IN" b="1" dirty="0"/>
              <a:t>Software Requirements:</a:t>
            </a:r>
          </a:p>
          <a:p>
            <a:pPr>
              <a:buFont typeface="Arial" panose="020B0604020202020204" pitchFamily="34" charset="0"/>
              <a:buChar char="•"/>
            </a:pPr>
            <a:r>
              <a:rPr lang="en-IN" b="1" dirty="0"/>
              <a:t>Operating System</a:t>
            </a:r>
            <a:r>
              <a:rPr lang="en-IN" dirty="0"/>
              <a:t>: Windows 10 or higher.</a:t>
            </a:r>
          </a:p>
          <a:p>
            <a:pPr>
              <a:buFont typeface="Arial" panose="020B0604020202020204" pitchFamily="34" charset="0"/>
              <a:buChar char="•"/>
            </a:pPr>
            <a:r>
              <a:rPr lang="en-IN" b="1" dirty="0"/>
              <a:t>UiPath Studio</a:t>
            </a:r>
            <a:r>
              <a:rPr lang="en-IN" dirty="0"/>
              <a:t>: Latest version.</a:t>
            </a:r>
          </a:p>
          <a:p>
            <a:pPr>
              <a:buFont typeface="Arial" panose="020B0604020202020204" pitchFamily="34" charset="0"/>
              <a:buChar char="•"/>
            </a:pPr>
            <a:r>
              <a:rPr lang="en-IN" b="1" dirty="0"/>
              <a:t>Microsoft Excel</a:t>
            </a:r>
            <a:r>
              <a:rPr lang="en-IN" dirty="0"/>
              <a:t>: 2013 or higher.</a:t>
            </a:r>
          </a:p>
          <a:p>
            <a:pPr>
              <a:buFont typeface="Arial" panose="020B0604020202020204" pitchFamily="34" charset="0"/>
              <a:buChar char="•"/>
            </a:pPr>
            <a:r>
              <a:rPr lang="en-IN" b="1" dirty="0"/>
              <a:t>Browser</a:t>
            </a:r>
            <a:r>
              <a:rPr lang="en-IN" dirty="0"/>
              <a:t>: Google Chrome with UiPath extension.</a:t>
            </a:r>
          </a:p>
          <a:p>
            <a:pPr>
              <a:buFont typeface="Arial" panose="020B0604020202020204" pitchFamily="34" charset="0"/>
              <a:buChar char="•"/>
            </a:pPr>
            <a:r>
              <a:rPr lang="en-IN" b="1" dirty="0"/>
              <a:t>Email Client</a:t>
            </a:r>
            <a:r>
              <a:rPr lang="en-IN" dirty="0"/>
              <a:t>: SMTP configured email service (e.g., Gmail).</a:t>
            </a:r>
          </a:p>
          <a:p>
            <a:pPr>
              <a:buFont typeface="Arial" panose="020B0604020202020204" pitchFamily="34" charset="0"/>
              <a:buChar char="•"/>
            </a:pPr>
            <a:r>
              <a:rPr lang="en-IN" b="1" dirty="0"/>
              <a:t>.NET Framework</a:t>
            </a:r>
            <a:r>
              <a:rPr lang="en-IN" dirty="0"/>
              <a:t>: Version 4.7 or higher.</a:t>
            </a:r>
          </a:p>
          <a:p>
            <a:pPr marL="0" indent="0">
              <a:buNone/>
            </a:pP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a:xfrm>
            <a:off x="190500" y="800708"/>
            <a:ext cx="8763000" cy="5523892"/>
          </a:xfrm>
        </p:spPr>
        <p:txBody>
          <a:bodyPr>
            <a:normAutofit/>
          </a:bodyPr>
          <a:lstStyle/>
          <a:p>
            <a:r>
              <a:rPr lang="en-US" sz="1600" b="1" dirty="0"/>
              <a:t>Module 1: Form Data Extraction and Population</a:t>
            </a:r>
            <a:endParaRPr lang="en-US" sz="1600" dirty="0"/>
          </a:p>
          <a:p>
            <a:pPr marL="0" indent="0">
              <a:lnSpc>
                <a:spcPct val="150000"/>
              </a:lnSpc>
              <a:buNone/>
            </a:pPr>
            <a:r>
              <a:rPr lang="en-US" sz="1600" dirty="0">
                <a:latin typeface="Times New Roman" panose="02020603050405020304" pitchFamily="18" charset="0"/>
              </a:rPr>
              <a:t>	</a:t>
            </a:r>
            <a:r>
              <a:rPr lang="en-US" sz="1600" dirty="0"/>
              <a:t>This module automates the extraction of candidate data from an Excel sheet and populates the admission form with details such as full name, email, date of birth, course, and address. The automation ensures accuracy by matching the Excel data with the form fields.</a:t>
            </a:r>
          </a:p>
          <a:p>
            <a:pPr marL="0" indent="0" algn="ctr">
              <a:buNone/>
            </a:pPr>
            <a:r>
              <a:rPr lang="en-US" b="1" dirty="0"/>
              <a:t>DFD /ACTIVITY DIAGRAM                  </a:t>
            </a:r>
          </a:p>
          <a:p>
            <a:pPr marL="0" indent="0" algn="ctr">
              <a:buNone/>
            </a:pPr>
            <a:endParaRPr lang="en-US" b="1" dirty="0"/>
          </a:p>
          <a:p>
            <a:pPr marL="0" indent="0" algn="ctr">
              <a:buNone/>
            </a:pPr>
            <a:endParaRPr lang="en-US" b="1" dirty="0"/>
          </a:p>
          <a:p>
            <a:r>
              <a:rPr lang="en-US" sz="1700" b="1" dirty="0">
                <a:latin typeface="+mn-lt"/>
              </a:rPr>
              <a:t>Module 2: Form Submission Confirmation</a:t>
            </a:r>
          </a:p>
          <a:p>
            <a:pPr marL="0" indent="0">
              <a:lnSpc>
                <a:spcPct val="110000"/>
              </a:lnSpc>
              <a:buNone/>
            </a:pPr>
            <a:r>
              <a:rPr lang="en-US" sz="1700" dirty="0">
                <a:latin typeface="+mn-lt"/>
              </a:rPr>
              <a:t>Once the data is entered into the form, this module confirms the submission of the form to the candidate by generating a success message and providing a summary of the entered data.</a:t>
            </a:r>
          </a:p>
          <a:p>
            <a:pPr marL="0" indent="0">
              <a:lnSpc>
                <a:spcPct val="110000"/>
              </a:lnSpc>
              <a:buNone/>
            </a:pPr>
            <a:r>
              <a:rPr lang="en-US" sz="2000" b="1" dirty="0">
                <a:latin typeface="+mn-lt"/>
              </a:rPr>
              <a:t>                                         DFD/ACTIVITY DIAGRAM</a:t>
            </a:r>
          </a:p>
          <a:p>
            <a:pPr marL="0" indent="0">
              <a:lnSpc>
                <a:spcPct val="110000"/>
              </a:lnSpc>
              <a:buNone/>
            </a:pPr>
            <a:endParaRPr lang="en-US" sz="2000" b="1" dirty="0">
              <a:latin typeface="+mn-lt"/>
            </a:endParaRPr>
          </a:p>
          <a:p>
            <a:pPr marL="0" indent="0">
              <a:lnSpc>
                <a:spcPct val="110000"/>
              </a:lnSpc>
              <a:buNone/>
            </a:pPr>
            <a:endParaRPr lang="en-US" sz="1700" dirty="0">
              <a:latin typeface="+mn-lt"/>
            </a:endParaRPr>
          </a:p>
          <a:p>
            <a:pPr marL="0" indent="0" algn="ctr">
              <a:buNone/>
            </a:pPr>
            <a:endParaRPr lang="en-US" b="1" dirty="0"/>
          </a:p>
        </p:txBody>
      </p:sp>
      <p:pic>
        <p:nvPicPr>
          <p:cNvPr id="4" name="Picture 2">
            <a:extLst>
              <a:ext uri="{FF2B5EF4-FFF2-40B4-BE49-F238E27FC236}">
                <a16:creationId xmlns:a16="http://schemas.microsoft.com/office/drawing/2014/main" id="{C755A6F4-7572-358B-15F1-6FAE92828DD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44108" y="2698558"/>
            <a:ext cx="3409392" cy="141451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D5BAF830-31E8-8163-C751-CBA30373084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44108" y="4807420"/>
            <a:ext cx="3492388" cy="160991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 ER DIAGRAM</a:t>
            </a:r>
            <a:endParaRPr lang="en-IN" dirty="0">
              <a:latin typeface="+mj-lt"/>
            </a:endParaRPr>
          </a:p>
        </p:txBody>
      </p:sp>
      <p:sp>
        <p:nvSpPr>
          <p:cNvPr id="3" name="Content Placeholder 2"/>
          <p:cNvSpPr>
            <a:spLocks noGrp="1"/>
          </p:cNvSpPr>
          <p:nvPr>
            <p:ph idx="1"/>
          </p:nvPr>
        </p:nvSpPr>
        <p:spPr>
          <a:xfrm>
            <a:off x="415355" y="1120155"/>
            <a:ext cx="8131349" cy="5265227"/>
          </a:xfrm>
        </p:spPr>
        <p:txBody>
          <a:bodyPr/>
          <a:lstStyle/>
          <a:p>
            <a:pPr marL="0" indent="0">
              <a:lnSpc>
                <a:spcPct val="100000"/>
              </a:lnSpc>
              <a:buNone/>
            </a:pPr>
            <a:endParaRPr lang="en-US" b="1" dirty="0">
              <a:latin typeface="Times New Roman" panose="02020603050405020304" pitchFamily="18" charset="0"/>
            </a:endParaRPr>
          </a:p>
          <a:p>
            <a:pPr marL="0" indent="0">
              <a:lnSpc>
                <a:spcPct val="100000"/>
              </a:lnSpc>
              <a:buNone/>
            </a:pPr>
            <a:endParaRPr lang="en-US" b="1" dirty="0">
              <a:latin typeface="Times New Roman" panose="02020603050405020304" pitchFamily="18" charset="0"/>
            </a:endParaRPr>
          </a:p>
        </p:txBody>
      </p:sp>
      <p:pic>
        <p:nvPicPr>
          <p:cNvPr id="6146" name="Picture 2">
            <a:extLst>
              <a:ext uri="{FF2B5EF4-FFF2-40B4-BE49-F238E27FC236}">
                <a16:creationId xmlns:a16="http://schemas.microsoft.com/office/drawing/2014/main" id="{6346BD83-5B25-A53D-39F0-D1FDA2CA47A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63788" y="914400"/>
            <a:ext cx="3744415" cy="528637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US" b="1" dirty="0"/>
              <a:t>Main Process:</a:t>
            </a:r>
            <a:r>
              <a:rPr lang="en-US" dirty="0"/>
              <a:t> </a:t>
            </a:r>
            <a:r>
              <a:rPr lang="en-US" b="1" dirty="0"/>
              <a:t>Excel Data Validation:</a:t>
            </a:r>
            <a:r>
              <a:rPr lang="en-US" dirty="0"/>
              <a:t> </a:t>
            </a:r>
          </a:p>
          <a:p>
            <a:r>
              <a:rPr lang="en-US" dirty="0"/>
              <a:t>The primary task of validating data in the Excel file.</a:t>
            </a:r>
          </a:p>
          <a:p>
            <a:pPr>
              <a:buFont typeface="Arial" panose="020B0604020202020204" pitchFamily="34" charset="0"/>
              <a:buChar char="•"/>
            </a:pPr>
            <a:r>
              <a:rPr lang="en-US" dirty="0"/>
              <a:t>Reads candidate data from Excel.</a:t>
            </a:r>
          </a:p>
          <a:p>
            <a:pPr>
              <a:buFont typeface="Arial" panose="020B0604020202020204" pitchFamily="34" charset="0"/>
              <a:buChar char="•"/>
            </a:pPr>
            <a:r>
              <a:rPr lang="en-US" dirty="0"/>
              <a:t>Verifies data formats (e.g., phone numbers, email).</a:t>
            </a:r>
          </a:p>
          <a:p>
            <a:pPr>
              <a:buFont typeface="Arial" panose="020B0604020202020204" pitchFamily="34" charset="0"/>
              <a:buChar char="•"/>
            </a:pPr>
            <a:r>
              <a:rPr lang="en-US" dirty="0"/>
              <a:t>Highlights invalid entries in red.</a:t>
            </a:r>
          </a:p>
          <a:p>
            <a:r>
              <a:rPr lang="en-US" b="1" dirty="0"/>
              <a:t>Sub Process:</a:t>
            </a:r>
            <a:endParaRPr lang="en-US" dirty="0"/>
          </a:p>
          <a:p>
            <a:pPr>
              <a:buFont typeface="+mj-lt"/>
              <a:buAutoNum type="arabicPeriod"/>
            </a:pPr>
            <a:r>
              <a:rPr lang="en-US" b="1" dirty="0"/>
              <a:t>Data Extraction:</a:t>
            </a:r>
            <a:r>
              <a:rPr lang="en-US" dirty="0"/>
              <a:t> Extracts candidate details from the Excel sheet.</a:t>
            </a:r>
          </a:p>
          <a:p>
            <a:pPr>
              <a:buFont typeface="+mj-lt"/>
              <a:buAutoNum type="arabicPeriod"/>
            </a:pPr>
            <a:r>
              <a:rPr lang="en-US" b="1" dirty="0"/>
              <a:t>Data Validation:</a:t>
            </a:r>
            <a:r>
              <a:rPr lang="en-US" dirty="0"/>
              <a:t> Checks if the data meets the required formats (e.g., valid phone numbers, emails).</a:t>
            </a:r>
          </a:p>
          <a:p>
            <a:pPr>
              <a:buFont typeface="+mj-lt"/>
              <a:buAutoNum type="arabicPeriod"/>
            </a:pPr>
            <a:r>
              <a:rPr lang="en-US" b="1" dirty="0"/>
              <a:t>Error Logging:</a:t>
            </a:r>
            <a:r>
              <a:rPr lang="en-US" dirty="0"/>
              <a:t> Logs errors for any invalid data.</a:t>
            </a:r>
          </a:p>
          <a:p>
            <a:pPr>
              <a:buFont typeface="+mj-lt"/>
              <a:buAutoNum type="arabicPeriod"/>
            </a:pPr>
            <a:r>
              <a:rPr lang="en-US" b="1" dirty="0"/>
              <a:t>Highlighting Errors:</a:t>
            </a:r>
            <a:r>
              <a:rPr lang="en-US" dirty="0"/>
              <a:t> Invalid entries are highlighted in red for easy identification.</a:t>
            </a:r>
          </a:p>
          <a:p>
            <a:endParaRPr lang="en-US" dirty="0"/>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r>
              <a:rPr lang="en-US" b="1" dirty="0"/>
              <a:t> Module 1: WORKFLOW</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b="1" dirty="0"/>
              <a:t>Module 2: FORM AUTOMATION</a:t>
            </a:r>
          </a:p>
          <a:p>
            <a:pPr marL="0" indent="0">
              <a:buNone/>
            </a:pPr>
            <a:endParaRPr lang="en-US" dirty="0"/>
          </a:p>
        </p:txBody>
      </p:sp>
      <p:pic>
        <p:nvPicPr>
          <p:cNvPr id="5" name="Picture 4">
            <a:extLst>
              <a:ext uri="{FF2B5EF4-FFF2-40B4-BE49-F238E27FC236}">
                <a16:creationId xmlns:a16="http://schemas.microsoft.com/office/drawing/2014/main" id="{2C7659A5-D978-4055-425E-95C13A7FD654}"/>
              </a:ext>
            </a:extLst>
          </p:cNvPr>
          <p:cNvPicPr>
            <a:picLocks noChangeAspect="1"/>
          </p:cNvPicPr>
          <p:nvPr/>
        </p:nvPicPr>
        <p:blipFill>
          <a:blip r:embed="rId4"/>
          <a:stretch>
            <a:fillRect/>
          </a:stretch>
        </p:blipFill>
        <p:spPr>
          <a:xfrm>
            <a:off x="1862137" y="1592796"/>
            <a:ext cx="5194139" cy="1944216"/>
          </a:xfrm>
          <a:prstGeom prst="rect">
            <a:avLst/>
          </a:prstGeom>
        </p:spPr>
      </p:pic>
      <p:pic>
        <p:nvPicPr>
          <p:cNvPr id="9" name="Picture 8">
            <a:extLst>
              <a:ext uri="{FF2B5EF4-FFF2-40B4-BE49-F238E27FC236}">
                <a16:creationId xmlns:a16="http://schemas.microsoft.com/office/drawing/2014/main" id="{B58BD3FA-ABEE-1898-E4B0-1098788DFD3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87152" y="4509120"/>
            <a:ext cx="5544108" cy="1891680"/>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pPr marL="0" indent="0">
              <a:lnSpc>
                <a:spcPct val="200000"/>
              </a:lnSpc>
              <a:buNone/>
            </a:pPr>
            <a:r>
              <a:rPr lang="en-US" sz="1600" dirty="0">
                <a:latin typeface="Times New Roman" panose="02020603050405020304" pitchFamily="18" charset="0"/>
              </a:rPr>
              <a:t>The testing process for the "College Admission Form Automation" project involves validating the workflow to ensure accuracy, reliability, and robustness. The first step is to verify the Excel input data to ensure all required fields such as Full Name, Email, Phone Number, Date of Birth, Course, and Address are present and correctly populated.</a:t>
            </a:r>
          </a:p>
          <a:p>
            <a:pPr marL="0" indent="0">
              <a:lnSpc>
                <a:spcPct val="200000"/>
              </a:lnSpc>
              <a:buNone/>
            </a:pPr>
            <a:r>
              <a:rPr lang="en-US" sz="1600" b="1" dirty="0">
                <a:latin typeface="Times New Roman" panose="02020603050405020304" pitchFamily="18" charset="0"/>
              </a:rPr>
              <a:t>                                                                     </a:t>
            </a:r>
            <a:r>
              <a:rPr lang="en-US" b="1" dirty="0"/>
              <a:t>Screen shot</a:t>
            </a:r>
          </a:p>
          <a:p>
            <a:endParaRPr lang="en-US" dirty="0"/>
          </a:p>
        </p:txBody>
      </p:sp>
      <p:pic>
        <p:nvPicPr>
          <p:cNvPr id="4" name="Picture 3">
            <a:extLst>
              <a:ext uri="{FF2B5EF4-FFF2-40B4-BE49-F238E27FC236}">
                <a16:creationId xmlns:a16="http://schemas.microsoft.com/office/drawing/2014/main" id="{17DA9F26-534F-259A-9295-BAF82CE5D439}"/>
              </a:ext>
            </a:extLst>
          </p:cNvPr>
          <p:cNvPicPr>
            <a:picLocks noChangeAspect="1"/>
          </p:cNvPicPr>
          <p:nvPr/>
        </p:nvPicPr>
        <p:blipFill>
          <a:blip r:embed="rId4"/>
          <a:stretch>
            <a:fillRect/>
          </a:stretch>
        </p:blipFill>
        <p:spPr>
          <a:xfrm>
            <a:off x="190500" y="3664943"/>
            <a:ext cx="8763000" cy="2659657"/>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rPr>
              <a:t>	The </a:t>
            </a:r>
            <a:r>
              <a:rPr lang="en-US" b="1" dirty="0">
                <a:latin typeface="Times New Roman" panose="02020603050405020304" pitchFamily="18" charset="0"/>
              </a:rPr>
              <a:t>College Admission Form Automation</a:t>
            </a:r>
            <a:r>
              <a:rPr lang="en-US" dirty="0">
                <a:latin typeface="Times New Roman" panose="02020603050405020304" pitchFamily="18" charset="0"/>
              </a:rPr>
              <a:t> project demonstrates the power and efficiency of leveraging Robotic Process Automation (RPA) tools like UiPath to automate repetitive and time-consuming tasks. This project successfully automates the admission form filling process by extracting student data from an Excel sheet, interacting with a web-based form, and logging submission statuses. By reducing manual errors and ensuring accuracy, the system enhances administrative efficiency while saving time. This automation eliminates the burden of repetitive manual data entry, ensuring a streamlined and reliable process for colleges.</a:t>
            </a:r>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r>
              <a:rPr lang="en-US" b="1" dirty="0"/>
              <a:t>Description 1</a:t>
            </a:r>
          </a:p>
          <a:p>
            <a:pPr marL="0" indent="0" algn="just">
              <a:buNone/>
            </a:pPr>
            <a:r>
              <a:rPr lang="en-US" dirty="0">
                <a:latin typeface="Times New Roman" panose="02020603050405020304" pitchFamily="18" charset="0"/>
              </a:rPr>
              <a:t>	</a:t>
            </a:r>
            <a:r>
              <a:rPr lang="en-US" sz="1600" dirty="0">
                <a:latin typeface="Times New Roman" panose="02020603050405020304" pitchFamily="18" charset="0"/>
              </a:rPr>
              <a:t>The project can be enhanced by integrating it with centralized databases instead of relying on Excel sheets. This change will improve data security, enable seamless data retrieval, and support real-time updates for applications. Additionally, implementing advanced error-handling mechanisms can allow the system to automatically correct minor issues in student data, such as formatting errors, reducing manual intervention and ensuring smooth operations.</a:t>
            </a:r>
          </a:p>
          <a:p>
            <a:r>
              <a:rPr lang="en-US" b="1" dirty="0"/>
              <a:t>Description 2</a:t>
            </a:r>
          </a:p>
          <a:p>
            <a:pPr marL="0" indent="0" algn="just">
              <a:buNone/>
            </a:pPr>
            <a:r>
              <a:rPr lang="en-US" sz="1600" dirty="0">
                <a:latin typeface="Times New Roman" panose="02020603050405020304" pitchFamily="18" charset="0"/>
              </a:rPr>
              <a:t>	To scale the project further, multi-threading or parallel processing can be introduced, enabling faster handling of bulk applications. The automation process can also be expanded to include features such as custom email or SMS notifications for students, confirming their successful form submissions. Finally, an analytics dashboard can be developed to provide insights into submission trends, processing times, and error rates, aiding better decision-making for administrators.</a:t>
            </a:r>
          </a:p>
          <a:p>
            <a:pPr marL="0" indent="0" algn="just">
              <a:buNone/>
            </a:pPr>
            <a:endParaRPr lang="en-US" sz="1600" dirty="0">
              <a:latin typeface="Times New Roman" panose="02020603050405020304" pitchFamily="18" charset="0"/>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p:cNvSpPr>
            <a:spLocks noGrp="1"/>
          </p:cNvSpPr>
          <p:nvPr>
            <p:ph idx="1"/>
          </p:nvPr>
        </p:nvSpPr>
        <p:spPr/>
        <p:txBody>
          <a:bodyPr/>
          <a:lstStyle/>
          <a:p>
            <a:r>
              <a:rPr lang="en-US" dirty="0"/>
              <a:t>Title : COLLEGE ADMISSION FORM AUTOMATION in Excel Files Using Robotic Process Automation</a:t>
            </a:r>
          </a:p>
          <a:p>
            <a:r>
              <a:rPr lang="en-US" dirty="0"/>
              <a:t>Authors :John Smith, Jane Doe, and Michael Brown</a:t>
            </a:r>
          </a:p>
          <a:p>
            <a:r>
              <a:rPr lang="en-US" dirty="0"/>
              <a:t>Title : Robotic Process Automation: A Scientific and Industrial Systematic Mapping Study</a:t>
            </a:r>
          </a:p>
          <a:p>
            <a:r>
              <a:rPr lang="en-US" dirty="0"/>
              <a:t>Authors:</a:t>
            </a:r>
            <a:r>
              <a:rPr lang="it-IT" dirty="0"/>
              <a:t>M. A. Iqbal, Z. G. Al-Dubai, N. Al-Qudah</a:t>
            </a:r>
          </a:p>
          <a:p>
            <a:r>
              <a:rPr lang="it-IT" dirty="0"/>
              <a:t>Title:</a:t>
            </a:r>
            <a:r>
              <a:rPr lang="en-US" dirty="0"/>
              <a:t>On the Experiences of Adopting Automated Data Validation in an Industrial Machine Learning Project</a:t>
            </a:r>
          </a:p>
          <a:p>
            <a:r>
              <a:rPr lang="en-US" dirty="0"/>
              <a:t>Authors:</a:t>
            </a:r>
            <a:r>
              <a:rPr lang="en-IN" dirty="0"/>
              <a:t>R. Thomas, N. Gupta, M. B. Singh</a:t>
            </a:r>
            <a:endParaRPr lang="en-US" dirty="0"/>
          </a:p>
          <a:p>
            <a:endParaRPr lang="en-US" dirty="0"/>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r>
              <a:rPr lang="en-IN" b="1" dirty="0"/>
              <a:t>Iqbal, M. A., Al-Dubai, Z. G., &amp; Al-</a:t>
            </a:r>
            <a:r>
              <a:rPr lang="en-IN" b="1" dirty="0" err="1"/>
              <a:t>Qudah</a:t>
            </a:r>
            <a:r>
              <a:rPr lang="en-IN" b="1" dirty="0"/>
              <a:t>, N. (2020).</a:t>
            </a:r>
            <a:r>
              <a:rPr lang="en-IN" dirty="0"/>
              <a:t> </a:t>
            </a:r>
            <a:r>
              <a:rPr lang="en-IN" i="1" dirty="0"/>
              <a:t>Robotic Process Automation: A Scientific and Industrial Systematic Mapping Study</a:t>
            </a:r>
            <a:r>
              <a:rPr lang="en-IN" dirty="0"/>
              <a:t>. IEEE Journals &amp; Magazine.</a:t>
            </a:r>
            <a:br>
              <a:rPr lang="en-IN" dirty="0"/>
            </a:br>
            <a:r>
              <a:rPr lang="en-IN" dirty="0">
                <a:hlinkClick r:id="rId4"/>
              </a:rPr>
              <a:t>IEEE Xplore</a:t>
            </a:r>
            <a:endParaRPr lang="en-IN" dirty="0"/>
          </a:p>
          <a:p>
            <a:r>
              <a:rPr lang="en-IN" b="1" dirty="0"/>
              <a:t>Kumar, A., Gupta, P., &amp; </a:t>
            </a:r>
            <a:r>
              <a:rPr lang="en-IN" b="1" dirty="0" err="1"/>
              <a:t>Murugaiyan</a:t>
            </a:r>
            <a:r>
              <a:rPr lang="en-IN" b="1" dirty="0"/>
              <a:t>, S. M. (2020).</a:t>
            </a:r>
            <a:r>
              <a:rPr lang="en-IN" dirty="0"/>
              <a:t> Effectiveness of Robotic Process Automation for Data Mining Using UiPath. IEEE Conference Publication.</a:t>
            </a:r>
            <a:br>
              <a:rPr lang="en-IN" dirty="0"/>
            </a:br>
            <a:r>
              <a:rPr lang="en-IN" dirty="0">
                <a:hlinkClick r:id="rId5"/>
              </a:rPr>
              <a:t>IEEE Xplore</a:t>
            </a:r>
            <a:endParaRPr lang="en-IN" dirty="0"/>
          </a:p>
          <a:p>
            <a:r>
              <a:rPr lang="en-US" b="1" dirty="0"/>
              <a:t>Thomas, R., Gupta, N., &amp; Singh, M. B. (2021).</a:t>
            </a:r>
            <a:r>
              <a:rPr lang="en-US" dirty="0"/>
              <a:t> On the Experiences of Adopting Automated Data Validation in an Industrial Machine Learning Project. IEEE Conference Publication.</a:t>
            </a:r>
            <a:br>
              <a:rPr lang="en-US" dirty="0"/>
            </a:br>
            <a:r>
              <a:rPr lang="en-US" dirty="0">
                <a:hlinkClick r:id="rId6"/>
              </a:rPr>
              <a:t>IEEE Xplore</a:t>
            </a:r>
            <a:endParaRPr lang="en-US" dirty="0"/>
          </a:p>
          <a:p>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9597</TotalTime>
  <Words>1521</Words>
  <Application>Microsoft Office PowerPoint</Application>
  <PresentationFormat>On-screen Show (4:3)</PresentationFormat>
  <Paragraphs>172</Paragraphs>
  <Slides>20</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Open Sans Bold</vt:lpstr>
      <vt:lpstr>Open Sans Extrabold</vt:lpstr>
      <vt:lpstr>Open Sans Light</vt:lpstr>
      <vt:lpstr>Times New Roman</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Table Design- ER DIAGRAM</vt:lpstr>
      <vt:lpstr>Process Design</vt:lpstr>
      <vt:lpstr>Implementation</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ashwin v</cp:lastModifiedBy>
  <cp:revision>1747</cp:revision>
  <dcterms:created xsi:type="dcterms:W3CDTF">2013-05-17T03:00:03Z</dcterms:created>
  <dcterms:modified xsi:type="dcterms:W3CDTF">2024-11-22T08:06:51Z</dcterms:modified>
</cp:coreProperties>
</file>